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fonts/Font_6_Albert_Sans_Bold.fntdata" ContentType="application/x-fontdata"/>
  <Override PartName="/ppt/fonts/Font_4_Open_Sans_BoldItalic.fntdata" ContentType="application/x-fontdata"/>
  <Override PartName="/ppt/fonts/Font_1_Open_Sans_Regular.fntdata" ContentType="application/x-fontdata"/>
  <Override PartName="/ppt/fonts/Font_3_Open_Sans_Italic.fntdata" ContentType="application/x-fontdata"/>
  <Override PartName="/ppt/fonts/Font_10_Syne_Bold.fntdata" ContentType="application/x-fontdata"/>
  <Override PartName="/ppt/fonts/Font_5_Albert_Sans_Regular.fntdata" ContentType="application/x-fontdata"/>
  <Override PartName="/ppt/fonts/Font_2_Open_Sans_Bold.fntdata" ContentType="application/x-fontdata"/>
  <Override PartName="/ppt/fonts/Font_7_Albert_Sans_Italic.fntdata" ContentType="application/x-fontdata"/>
  <Override PartName="/ppt/fonts/Font_8_Albert_Sans_BoldItalic.fntdata" ContentType="application/x-fontdata"/>
  <Override PartName="/ppt/fonts/Font_9_Syne_Regular.fntdata" ContentType="application/x-fontdata"/>
  <Override PartName="/ppt/slideMasters/slideMaster2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_rels/slideMaster23.xml.rels" ContentType="application/vnd.openxmlformats-package.relationships+xml"/>
  <Override PartName="/ppt/slideMasters/_rels/slideMaster1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media/image11.png" ContentType="image/png"/>
  <Override PartName="/ppt/media/image1.jpeg" ContentType="image/jpeg"/>
  <Override PartName="/ppt/media/image2.jpeg" ContentType="image/jpeg"/>
  <Override PartName="/ppt/media/image8.gif" ContentType="image/gif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7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6858000" cy="9144000"/>
  <p:embeddedFontLst>
    <p:embeddedFont>
      <p:font typeface="Open Sans"/>
      <p:regular r:id="rId17"/>
      <p:bold r:id="rId18"/>
      <p:italic r:id="rId19"/>
      <p:boldItalic r:id="rId20"/>
    </p:embeddedFont>
    <p:embeddedFont>
      <p:font typeface="Syne SemiBold"/>
    </p:embeddedFont>
    <p:embeddedFont>
      <p:font typeface="Albert Sans"/>
      <p:regular r:id="rId21"/>
      <p:bold r:id="rId22"/>
      <p:italic r:id="rId23"/>
      <p:boldItalic r:id="rId24"/>
    </p:embeddedFont>
    <p:embeddedFont>
      <p:font typeface="Syne Medium"/>
    </p:embeddedFont>
    <p:embeddedFont>
      <p:font typeface="Syne"/>
      <p:regular r:id="rId25"/>
      <p:bold r:id="rId26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font" Target="fonts/Font_1_Open_Sans_Regular.fntdata"/><Relationship Id="rId18" Type="http://schemas.openxmlformats.org/officeDocument/2006/relationships/font" Target="fonts/Font_2_Open_Sans_Bold.fntdata"/><Relationship Id="rId19" Type="http://schemas.openxmlformats.org/officeDocument/2006/relationships/font" Target="fonts/Font_3_Open_Sans_Italic.fntdata"/><Relationship Id="rId20" Type="http://schemas.openxmlformats.org/officeDocument/2006/relationships/font" Target="fonts/Font_4_Open_Sans_BoldItalic.fntdata"/><Relationship Id="rId21" Type="http://schemas.openxmlformats.org/officeDocument/2006/relationships/font" Target="fonts/Font_5_Albert_Sans_Regular.fntdata"/><Relationship Id="rId22" Type="http://schemas.openxmlformats.org/officeDocument/2006/relationships/font" Target="fonts/Font_6_Albert_Sans_Bold.fntdata"/><Relationship Id="rId23" Type="http://schemas.openxmlformats.org/officeDocument/2006/relationships/font" Target="fonts/Font_7_Albert_Sans_Italic.fntdata"/><Relationship Id="rId24" Type="http://schemas.openxmlformats.org/officeDocument/2006/relationships/font" Target="fonts/Font_8_Albert_Sans_BoldItalic.fntdata"/><Relationship Id="rId25" Type="http://schemas.openxmlformats.org/officeDocument/2006/relationships/font" Target="fonts/Font_9_Syne_Regular.fntdata"/><Relationship Id="rId26" Type="http://schemas.openxmlformats.org/officeDocument/2006/relationships/font" Target="fonts/Font_10_Syne_Bold.fntdata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hyperlink" Target="https://bit.ly/3A1uf1Q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90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46;p11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6575760" cy="92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51;p13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3686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4494600" y="195120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xx%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title"/>
          </p:nvPr>
        </p:nvSpPr>
        <p:spPr>
          <a:xfrm>
            <a:off x="4494600" y="330624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xx%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/>
          </p:nvPr>
        </p:nvSpPr>
        <p:spPr>
          <a:xfrm>
            <a:off x="4494600" y="262872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xx%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title"/>
          </p:nvPr>
        </p:nvSpPr>
        <p:spPr>
          <a:xfrm>
            <a:off x="4494600" y="398376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xx%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62;p14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11800" y="539640"/>
            <a:ext cx="76183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0" y="1476720"/>
            <a:ext cx="4294440" cy="3666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0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67;p15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62840" y="794520"/>
            <a:ext cx="7618320" cy="6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184920" y="2398680"/>
            <a:ext cx="5195880" cy="195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71;p16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80;p17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83;p18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_1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86;p19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89;p20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13;p3" descr=""/>
          <p:cNvPicPr/>
          <p:nvPr/>
        </p:nvPicPr>
        <p:blipFill>
          <a:blip r:embed="rId2"/>
          <a:srcRect l="0" t="31118" r="31120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13160" y="3585240"/>
            <a:ext cx="7717320" cy="101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title"/>
          </p:nvPr>
        </p:nvSpPr>
        <p:spPr>
          <a:xfrm>
            <a:off x="713160" y="499680"/>
            <a:ext cx="1267200" cy="6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s-ES" sz="4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xx%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04;p21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2836440" cy="785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107;p21"/>
          <p:cNvSpPr/>
          <p:nvPr/>
        </p:nvSpPr>
        <p:spPr>
          <a:xfrm>
            <a:off x="5004360" y="3649680"/>
            <a:ext cx="3426120" cy="6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r">
              <a:lnSpc>
                <a:spcPct val="100000"/>
              </a:lnSpc>
              <a:spcBef>
                <a:spcPts val="300"/>
              </a:spcBef>
              <a:tabLst>
                <a:tab algn="l" pos="0"/>
              </a:tabLst>
            </a:pPr>
            <a:r>
              <a:rPr b="1" lang="en" sz="1000" strike="noStrike" u="none">
                <a:solidFill>
                  <a:schemeClr val="dk1"/>
                </a:solidFill>
                <a:effectLst/>
                <a:uFillTx/>
                <a:latin typeface="Open Sans"/>
                <a:ea typeface="Open Sans"/>
              </a:rPr>
              <a:t>CREDITS:</a:t>
            </a: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Open Sans"/>
                <a:ea typeface="Open Sans"/>
              </a:rPr>
              <a:t> This presentation template was created by </a:t>
            </a:r>
            <a:r>
              <a:rPr b="1" lang="en" sz="1000" strike="noStrike" u="sng">
                <a:solidFill>
                  <a:schemeClr val="hlink"/>
                </a:solidFill>
                <a:effectLst/>
                <a:uFillTx/>
                <a:latin typeface="Open Sans"/>
                <a:ea typeface="Open Sans"/>
                <a:hlinkClick r:id="rId3"/>
              </a:rPr>
              <a:t>Slidesgo</a:t>
            </a: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Open Sans"/>
                <a:ea typeface="Open Sans"/>
              </a:rPr>
              <a:t>, and includes icons by </a:t>
            </a:r>
            <a:r>
              <a:rPr b="1" lang="en" sz="1000" strike="noStrike" u="sng">
                <a:solidFill>
                  <a:schemeClr val="dk1"/>
                </a:solidFill>
                <a:effectLst/>
                <a:uFillTx/>
                <a:latin typeface="Open Sans"/>
                <a:ea typeface="Open Sans"/>
                <a:hlinkClick r:id="rId4"/>
              </a:rPr>
              <a:t>Flaticon</a:t>
            </a: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Open Sans"/>
                <a:ea typeface="Open Sans"/>
              </a:rPr>
              <a:t>, and infographics &amp; images by </a:t>
            </a:r>
            <a:r>
              <a:rPr b="1" lang="en" sz="1000" strike="noStrike" u="sng">
                <a:solidFill>
                  <a:schemeClr val="dk1"/>
                </a:solidFill>
                <a:effectLst/>
                <a:uFillTx/>
                <a:latin typeface="Open Sans"/>
                <a:ea typeface="Open Sans"/>
                <a:hlinkClick r:id="rId5"/>
              </a:rPr>
              <a:t>Freepik</a:t>
            </a:r>
            <a:r>
              <a:rPr b="0" lang="en" sz="1000" strike="noStrike" u="sng">
                <a:solidFill>
                  <a:schemeClr val="dk1"/>
                </a:solidFill>
                <a:effectLst/>
                <a:uFillTx/>
                <a:latin typeface="Open Sans"/>
                <a:ea typeface="Open Sans"/>
              </a:rPr>
              <a:t> 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09;p22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9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111;p23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7;p4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21;p5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720000" y="3644280"/>
            <a:ext cx="2954880" cy="95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28;p6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31;p7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11800" y="539640"/>
            <a:ext cx="42944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0" y="1476720"/>
            <a:ext cx="4294440" cy="3666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36;p8" descr=""/>
          <p:cNvPicPr/>
          <p:nvPr/>
        </p:nvPicPr>
        <p:blipFill>
          <a:blip r:embed="rId2"/>
          <a:srcRect l="0" t="31118" r="31120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2318040" y="1307160"/>
            <a:ext cx="4507920" cy="252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39;p9" descr="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9525">
            <a:solidFill>
              <a:srgbClr val="ffffff"/>
            </a:solidFill>
            <a:round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2135520" y="1189080"/>
            <a:ext cx="4872600" cy="196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117;p26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_1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120;p27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2"/>
    <p:sldLayoutId id="2147483673" r:id="rId3"/>
    <p:sldLayoutId id="2147483674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8.gif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subTitle"/>
          </p:nvPr>
        </p:nvSpPr>
        <p:spPr>
          <a:xfrm>
            <a:off x="5389560" y="3946320"/>
            <a:ext cx="3040920" cy="657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Clasificador de emociones caninas con Machine Learning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90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Waw app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" name="Google Shape;130;p28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0268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3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¿Sabes si le pasa algo a tu perro?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title"/>
          </p:nvPr>
        </p:nvSpPr>
        <p:spPr>
          <a:xfrm>
            <a:off x="4494600" y="195120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(01)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title"/>
          </p:nvPr>
        </p:nvSpPr>
        <p:spPr>
          <a:xfrm>
            <a:off x="4494600" y="330624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(03)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title"/>
          </p:nvPr>
        </p:nvSpPr>
        <p:spPr>
          <a:xfrm>
            <a:off x="4494600" y="262872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(02)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title"/>
          </p:nvPr>
        </p:nvSpPr>
        <p:spPr>
          <a:xfrm>
            <a:off x="4494600" y="3983760"/>
            <a:ext cx="10130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6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(04)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 type="subTitle"/>
          </p:nvPr>
        </p:nvSpPr>
        <p:spPr>
          <a:xfrm>
            <a:off x="5559840" y="1951200"/>
            <a:ext cx="28706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Presentación</a:t>
            </a:r>
            <a:endParaRPr b="0" lang="es-E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 type="subTitle"/>
          </p:nvPr>
        </p:nvSpPr>
        <p:spPr>
          <a:xfrm>
            <a:off x="5559840" y="2628720"/>
            <a:ext cx="28706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Arquitectura</a:t>
            </a:r>
            <a:endParaRPr b="0" lang="es-E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8"/>
          <p:cNvSpPr>
            <a:spLocks noGrp="1"/>
          </p:cNvSpPr>
          <p:nvPr>
            <p:ph type="subTitle"/>
          </p:nvPr>
        </p:nvSpPr>
        <p:spPr>
          <a:xfrm>
            <a:off x="5559840" y="3306240"/>
            <a:ext cx="28706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Casos de uso</a:t>
            </a:r>
            <a:endParaRPr b="0" lang="es-E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9"/>
          <p:cNvSpPr>
            <a:spLocks noGrp="1"/>
          </p:cNvSpPr>
          <p:nvPr>
            <p:ph type="subTitle"/>
          </p:nvPr>
        </p:nvSpPr>
        <p:spPr>
          <a:xfrm>
            <a:off x="5559840" y="3983760"/>
            <a:ext cx="2870640" cy="61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dk1"/>
                </a:solidFill>
                <a:effectLst/>
                <a:uFillTx/>
                <a:latin typeface="Syne Medium"/>
                <a:ea typeface="Syne Medium"/>
              </a:rPr>
              <a:t>Futuras mejoras</a:t>
            </a:r>
            <a:endParaRPr b="0" lang="es-E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2340000" y="2778480"/>
            <a:ext cx="720000" cy="100152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40000" y="539640"/>
            <a:ext cx="810000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Una app para identificar las emociones de tu perro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4928760" y="1800000"/>
            <a:ext cx="3501720" cy="21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Plataforma de Machine Learning que clasifica emociones caninas mediante el análisis de imágenes.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0" y="1800000"/>
            <a:ext cx="4318920" cy="33429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713160" y="3585240"/>
            <a:ext cx="7717320" cy="101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Presentacion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713160" y="499680"/>
            <a:ext cx="1267200" cy="6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01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Google Shape;167;p32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762840" y="794520"/>
            <a:ext cx="7618320" cy="69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32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Una imagen vale más que mil palabras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2880000" y="2328840"/>
            <a:ext cx="5510520" cy="195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La app transforma imágenes en datos para comparar algoritmos supervisados y redes neuronales. 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Analiza patrones visuales en tiempo real para predecir cuatro estados emocionales clave con precisión técnica.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Cada predicción incluye un desglose de probabilidades que mide el grado de certeza del modelo en cada diagnóstico. 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713160" y="3585240"/>
            <a:ext cx="7717320" cy="101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Arquitectura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title"/>
          </p:nvPr>
        </p:nvSpPr>
        <p:spPr>
          <a:xfrm>
            <a:off x="713160" y="499680"/>
            <a:ext cx="1267200" cy="6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02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" name="Google Shape;167;p 1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720000" y="408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2600" strike="noStrike" u="none">
                <a:solidFill>
                  <a:schemeClr val="dk1"/>
                </a:solidFill>
                <a:effectLst/>
                <a:uFillTx/>
                <a:latin typeface="Syne"/>
                <a:ea typeface="Syne"/>
              </a:rPr>
              <a:t>Usabilidad simple e intuitiva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504000" y="1188000"/>
            <a:ext cx="8280000" cy="90000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59;p 1"/>
          <p:cNvSpPr txBox="1"/>
          <p:nvPr/>
        </p:nvSpPr>
        <p:spPr>
          <a:xfrm>
            <a:off x="1113120" y="1476000"/>
            <a:ext cx="209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Interfaz de usuario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4" descr="preencoded.png"/>
          <p:cNvPicPr/>
          <p:nvPr/>
        </p:nvPicPr>
        <p:blipFill>
          <a:blip r:embed="rId1"/>
          <a:stretch/>
        </p:blipFill>
        <p:spPr>
          <a:xfrm>
            <a:off x="1800000" y="1260000"/>
            <a:ext cx="25668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00" name="Google Shape;159;p 2"/>
          <p:cNvSpPr txBox="1"/>
          <p:nvPr/>
        </p:nvSpPr>
        <p:spPr>
          <a:xfrm>
            <a:off x="645120" y="1692000"/>
            <a:ext cx="281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Streamlit con CSS personalizado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" name="Image 6" descr="preencoded.png"/>
          <p:cNvPicPr/>
          <p:nvPr/>
        </p:nvPicPr>
        <p:blipFill>
          <a:blip r:embed="rId2"/>
          <a:stretch/>
        </p:blipFill>
        <p:spPr>
          <a:xfrm>
            <a:off x="4451760" y="1279440"/>
            <a:ext cx="22824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02" name="Google Shape;159;p 3"/>
          <p:cNvSpPr txBox="1"/>
          <p:nvPr/>
        </p:nvSpPr>
        <p:spPr>
          <a:xfrm>
            <a:off x="3741120" y="1476000"/>
            <a:ext cx="209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Carga de imagen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59;p 4"/>
          <p:cNvSpPr txBox="1"/>
          <p:nvPr/>
        </p:nvSpPr>
        <p:spPr>
          <a:xfrm>
            <a:off x="3309120" y="1692000"/>
            <a:ext cx="281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Procesamiento y normalización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8" descr="preencoded.png"/>
          <p:cNvPicPr/>
          <p:nvPr/>
        </p:nvPicPr>
        <p:blipFill>
          <a:blip r:embed="rId3"/>
          <a:stretch/>
        </p:blipFill>
        <p:spPr>
          <a:xfrm>
            <a:off x="7151760" y="1279440"/>
            <a:ext cx="22824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05" name="Google Shape;159;p 5"/>
          <p:cNvSpPr txBox="1"/>
          <p:nvPr/>
        </p:nvSpPr>
        <p:spPr>
          <a:xfrm>
            <a:off x="6333120" y="1476000"/>
            <a:ext cx="209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Selección de modelo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9;p 6"/>
          <p:cNvSpPr txBox="1"/>
          <p:nvPr/>
        </p:nvSpPr>
        <p:spPr>
          <a:xfrm>
            <a:off x="5829120" y="1692000"/>
            <a:ext cx="281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Varias opciones de Machine Learning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504000" y="2520000"/>
            <a:ext cx="8280000" cy="90000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12" descr="preencoded.png"/>
          <p:cNvPicPr/>
          <p:nvPr/>
        </p:nvPicPr>
        <p:blipFill>
          <a:blip r:embed="rId4"/>
          <a:stretch/>
        </p:blipFill>
        <p:spPr>
          <a:xfrm>
            <a:off x="2196000" y="2592000"/>
            <a:ext cx="22824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09" name="Google Shape;159;p 7"/>
          <p:cNvSpPr txBox="1"/>
          <p:nvPr/>
        </p:nvSpPr>
        <p:spPr>
          <a:xfrm>
            <a:off x="1113120" y="2772000"/>
            <a:ext cx="2846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Procesamiento de imágenes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59;p 8"/>
          <p:cNvSpPr txBox="1"/>
          <p:nvPr/>
        </p:nvSpPr>
        <p:spPr>
          <a:xfrm>
            <a:off x="1149120" y="2988000"/>
            <a:ext cx="2810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Redimensionamiento a 64x64px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14" descr="preencoded.png"/>
          <p:cNvPicPr/>
          <p:nvPr/>
        </p:nvPicPr>
        <p:blipFill>
          <a:blip r:embed="rId5"/>
          <a:stretch/>
        </p:blipFill>
        <p:spPr>
          <a:xfrm>
            <a:off x="6444000" y="2592000"/>
            <a:ext cx="19980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12" name="Google Shape;159;p 9"/>
          <p:cNvSpPr txBox="1"/>
          <p:nvPr/>
        </p:nvSpPr>
        <p:spPr>
          <a:xfrm>
            <a:off x="5793120" y="2772000"/>
            <a:ext cx="2846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Formato de entrada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59;p 10"/>
          <p:cNvSpPr txBox="1"/>
          <p:nvPr/>
        </p:nvSpPr>
        <p:spPr>
          <a:xfrm>
            <a:off x="4932000" y="2988000"/>
            <a:ext cx="3528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3D para CNN | 1D para modelos supervisados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504000" y="3816000"/>
            <a:ext cx="8280000" cy="90000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 18" descr="preencoded.png"/>
          <p:cNvPicPr/>
          <p:nvPr/>
        </p:nvPicPr>
        <p:blipFill>
          <a:blip r:embed="rId6"/>
          <a:stretch/>
        </p:blipFill>
        <p:spPr>
          <a:xfrm>
            <a:off x="1800000" y="3960000"/>
            <a:ext cx="19980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16" name="Google Shape;159;p 11"/>
          <p:cNvSpPr txBox="1"/>
          <p:nvPr/>
        </p:nvSpPr>
        <p:spPr>
          <a:xfrm>
            <a:off x="1185120" y="4176000"/>
            <a:ext cx="1586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Random Forest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 20" descr="preencoded.png"/>
          <p:cNvPicPr/>
          <p:nvPr/>
        </p:nvPicPr>
        <p:blipFill>
          <a:blip r:embed="rId7"/>
          <a:stretch/>
        </p:blipFill>
        <p:spPr>
          <a:xfrm>
            <a:off x="4322520" y="3960000"/>
            <a:ext cx="28548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18" name="Google Shape;159;p 12"/>
          <p:cNvSpPr txBox="1"/>
          <p:nvPr/>
        </p:nvSpPr>
        <p:spPr>
          <a:xfrm>
            <a:off x="4173120" y="4176000"/>
            <a:ext cx="1586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KNN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22" descr="preencoded.png"/>
          <p:cNvPicPr/>
          <p:nvPr/>
        </p:nvPicPr>
        <p:blipFill>
          <a:blip r:embed="rId8"/>
          <a:stretch/>
        </p:blipFill>
        <p:spPr>
          <a:xfrm>
            <a:off x="7130520" y="3960000"/>
            <a:ext cx="285480" cy="304560"/>
          </a:xfrm>
          <a:prstGeom prst="rect">
            <a:avLst/>
          </a:prstGeom>
          <a:noFill/>
          <a:ln w="0">
            <a:noFill/>
          </a:ln>
          <a:effectLst>
            <a:outerShdw dist="101823" dir="2700000" blurRad="380880" rotWithShape="0">
              <a:srgbClr val="000000">
                <a:alpha val="90000"/>
              </a:srgbClr>
            </a:outerShdw>
          </a:effectLst>
        </p:spPr>
      </p:pic>
      <p:sp>
        <p:nvSpPr>
          <p:cNvPr id="120" name="Google Shape;159;p 13"/>
          <p:cNvSpPr txBox="1"/>
          <p:nvPr/>
        </p:nvSpPr>
        <p:spPr>
          <a:xfrm>
            <a:off x="6513120" y="4176000"/>
            <a:ext cx="183888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Redes Neuronales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"/>
          <p:cNvCxnSpPr>
            <a:stCxn id="107" idx="0"/>
            <a:endCxn id="97" idx="2"/>
          </p:cNvCxnSpPr>
          <p:nvPr/>
        </p:nvCxnSpPr>
        <p:spPr>
          <a:xfrm rot="16200000">
            <a:off x="4428000" y="2304000"/>
            <a:ext cx="432360" cy="360"/>
          </a:xfrm>
          <a:prstGeom prst="bentConnector2">
            <a:avLst/>
          </a:prstGeom>
          <a:ln w="0">
            <a:solidFill>
              <a:srgbClr val="ffffff"/>
            </a:solidFill>
          </a:ln>
        </p:spPr>
      </p:cxnSp>
      <p:cxnSp>
        <p:nvCxnSpPr>
          <p:cNvPr id="122" name=""/>
          <p:cNvCxnSpPr>
            <a:stCxn id="114" idx="0"/>
            <a:endCxn id="107" idx="2"/>
          </p:cNvCxnSpPr>
          <p:nvPr/>
        </p:nvCxnSpPr>
        <p:spPr>
          <a:xfrm rot="16200000">
            <a:off x="4446000" y="3618000"/>
            <a:ext cx="396360" cy="360"/>
          </a:xfrm>
          <a:prstGeom prst="bentConnector2">
            <a:avLst/>
          </a:prstGeom>
          <a:ln w="0">
            <a:solidFill>
              <a:srgbClr val="ffffff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713160" y="3585240"/>
            <a:ext cx="7717320" cy="101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Casos de Uso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title"/>
          </p:nvPr>
        </p:nvSpPr>
        <p:spPr>
          <a:xfrm>
            <a:off x="713160" y="499680"/>
            <a:ext cx="1267200" cy="6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03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67;p 2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2600" strike="noStrike" u="none">
                <a:solidFill>
                  <a:schemeClr val="dk1"/>
                </a:solidFill>
                <a:effectLst/>
                <a:uFillTx/>
                <a:latin typeface="Syne"/>
                <a:ea typeface="Syne"/>
              </a:rPr>
              <a:t>Una app escalable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719640" y="2708640"/>
            <a:ext cx="3286440" cy="80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Aplicaciones Médicas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ubTitle"/>
          </p:nvPr>
        </p:nvSpPr>
        <p:spPr>
          <a:xfrm>
            <a:off x="719640" y="3510000"/>
            <a:ext cx="3286440" cy="109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Detección automatizada de anomalías en radiografías y resonancias con un alto Nivel de Certeza e Índice de Confianza diagnóstico.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subTitle"/>
          </p:nvPr>
        </p:nvSpPr>
        <p:spPr>
          <a:xfrm>
            <a:off x="5137200" y="1883880"/>
            <a:ext cx="3286440" cy="99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Control de calidad automatizado en líneas de producción para detectar defectos estructurales en piezas o productos.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subTitle"/>
          </p:nvPr>
        </p:nvSpPr>
        <p:spPr>
          <a:xfrm>
            <a:off x="5137200" y="1082520"/>
            <a:ext cx="3286440" cy="80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Aplicaciones Industriales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713160" y="3585240"/>
            <a:ext cx="7717320" cy="101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Futuras mejoras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title"/>
          </p:nvPr>
        </p:nvSpPr>
        <p:spPr>
          <a:xfrm>
            <a:off x="713160" y="499680"/>
            <a:ext cx="1267200" cy="6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04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3" name="Google Shape;167;p 3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6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Margen de mejora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73;p 1"/>
          <p:cNvSpPr txBox="1"/>
          <p:nvPr/>
        </p:nvSpPr>
        <p:spPr>
          <a:xfrm>
            <a:off x="1980000" y="1649880"/>
            <a:ext cx="5510520" cy="1950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Mayor precisión de los modelos. 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Feed interactivo para reentrenamiento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Exploración de nuevas arquitecturas de redes neuronales(Transformers)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301;p 1"/>
          <p:cNvSpPr txBox="1"/>
          <p:nvPr/>
        </p:nvSpPr>
        <p:spPr>
          <a:xfrm>
            <a:off x="713520" y="540000"/>
            <a:ext cx="2836440" cy="785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Gracias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302;p 1"/>
          <p:cNvSpPr txBox="1"/>
          <p:nvPr/>
        </p:nvSpPr>
        <p:spPr>
          <a:xfrm>
            <a:off x="713520" y="1325880"/>
            <a:ext cx="2836440" cy="1058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400" strike="noStrike" u="non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By Álvaro Guerra Cabello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38" name="Google Shape;303;p 1"/>
          <p:cNvGrpSpPr/>
          <p:nvPr/>
        </p:nvGrpSpPr>
        <p:grpSpPr>
          <a:xfrm>
            <a:off x="6273360" y="4293720"/>
            <a:ext cx="275760" cy="275760"/>
            <a:chOff x="6273360" y="4293720"/>
            <a:chExt cx="275760" cy="275760"/>
          </a:xfrm>
        </p:grpSpPr>
        <p:sp>
          <p:nvSpPr>
            <p:cNvPr id="139" name="Google Shape;304;p 1"/>
            <p:cNvSpPr/>
            <p:nvPr/>
          </p:nvSpPr>
          <p:spPr>
            <a:xfrm>
              <a:off x="6273360" y="4293720"/>
              <a:ext cx="275760" cy="275760"/>
            </a:xfrm>
            <a:custGeom>
              <a:avLst/>
              <a:gdLst>
                <a:gd name="textAreaLeft" fmla="*/ 0 w 275760"/>
                <a:gd name="textAreaRight" fmla="*/ 276120 w 275760"/>
                <a:gd name="textAreaTop" fmla="*/ 0 h 275760"/>
                <a:gd name="textAreaBottom" fmla="*/ 276120 h 275760"/>
              </a:gdLst>
              <a:ahLst/>
              <a:cxnLst/>
              <a:rect l="textAreaLeft" t="textAreaTop" r="textAreaRight" b="textAreaBottom"/>
              <a:pathLst>
                <a:path w="6764" h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Google Shape;305;p 1"/>
            <p:cNvSpPr/>
            <p:nvPr/>
          </p:nvSpPr>
          <p:spPr>
            <a:xfrm>
              <a:off x="6337440" y="4359240"/>
              <a:ext cx="146880" cy="144000"/>
            </a:xfrm>
            <a:custGeom>
              <a:avLst/>
              <a:gdLst>
                <a:gd name="textAreaLeft" fmla="*/ 0 w 146880"/>
                <a:gd name="textAreaRight" fmla="*/ 147240 w 146880"/>
                <a:gd name="textAreaTop" fmla="*/ 0 h 144000"/>
                <a:gd name="textAreaBottom" fmla="*/ 144360 h 144000"/>
              </a:gdLst>
              <a:ahLst/>
              <a:cxnLst/>
              <a:rect l="textAreaLeft" t="textAreaTop" r="textAreaRight" b="textAreaBottom"/>
              <a:pathLst>
                <a:path w="3607" h="3542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2000" bIns="7200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Google Shape;306;p 1"/>
            <p:cNvSpPr/>
            <p:nvPr/>
          </p:nvSpPr>
          <p:spPr>
            <a:xfrm>
              <a:off x="6467040" y="4329360"/>
              <a:ext cx="37440" cy="3708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929" h="918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2" name="Google Shape;307;p 1"/>
          <p:cNvGrpSpPr/>
          <p:nvPr/>
        </p:nvGrpSpPr>
        <p:grpSpPr>
          <a:xfrm>
            <a:off x="7139160" y="4312440"/>
            <a:ext cx="266400" cy="238320"/>
            <a:chOff x="7139160" y="4312440"/>
            <a:chExt cx="266400" cy="238320"/>
          </a:xfrm>
        </p:grpSpPr>
        <p:sp>
          <p:nvSpPr>
            <p:cNvPr id="143" name="Google Shape;308;p 1"/>
            <p:cNvSpPr/>
            <p:nvPr/>
          </p:nvSpPr>
          <p:spPr>
            <a:xfrm>
              <a:off x="7148520" y="4396680"/>
              <a:ext cx="60840" cy="154080"/>
            </a:xfrm>
            <a:custGeom>
              <a:avLst/>
              <a:gdLst>
                <a:gd name="textAreaLeft" fmla="*/ 0 w 60840"/>
                <a:gd name="textAreaRight" fmla="*/ 61200 w 60840"/>
                <a:gd name="textAreaTop" fmla="*/ 0 h 154080"/>
                <a:gd name="textAreaBottom" fmla="*/ 154440 h 154080"/>
              </a:gdLst>
              <a:ahLst/>
              <a:cxnLst/>
              <a:rect l="textAreaLeft" t="textAreaTop" r="textAreaRight" b="textAreaBottom"/>
              <a:pathLst>
                <a:path w="1502" h="3787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7040" bIns="770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Google Shape;309;p 1"/>
            <p:cNvSpPr/>
            <p:nvPr/>
          </p:nvSpPr>
          <p:spPr>
            <a:xfrm>
              <a:off x="7139160" y="4312440"/>
              <a:ext cx="70200" cy="702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70200"/>
                <a:gd name="textAreaBottom" fmla="*/ 70560 h 70200"/>
              </a:gdLst>
              <a:ahLst/>
              <a:cxnLst/>
              <a:rect l="textAreaLeft" t="textAreaTop" r="textAreaRight" b="textAreaBottom"/>
              <a:pathLst>
                <a:path w="1728" h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5280" bIns="3528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Google Shape;310;p 1"/>
            <p:cNvSpPr/>
            <p:nvPr/>
          </p:nvSpPr>
          <p:spPr>
            <a:xfrm>
              <a:off x="7241760" y="4396680"/>
              <a:ext cx="163800" cy="154080"/>
            </a:xfrm>
            <a:custGeom>
              <a:avLst/>
              <a:gdLst>
                <a:gd name="textAreaLeft" fmla="*/ 0 w 163800"/>
                <a:gd name="textAreaRight" fmla="*/ 164160 w 163800"/>
                <a:gd name="textAreaTop" fmla="*/ 0 h 154080"/>
                <a:gd name="textAreaBottom" fmla="*/ 154440 h 154080"/>
              </a:gdLst>
              <a:ahLst/>
              <a:cxnLst/>
              <a:rect l="textAreaLeft" t="textAreaTop" r="textAreaRight" b="textAreaBottom"/>
              <a:pathLst>
                <a:path w="4026" h="3787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7040" bIns="770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" name="Google Shape;311;p 1"/>
          <p:cNvSpPr/>
          <p:nvPr/>
        </p:nvSpPr>
        <p:spPr>
          <a:xfrm>
            <a:off x="8003160" y="4312800"/>
            <a:ext cx="291240" cy="237600"/>
          </a:xfrm>
          <a:custGeom>
            <a:avLst/>
            <a:gdLst>
              <a:gd name="textAreaLeft" fmla="*/ 0 w 291240"/>
              <a:gd name="textAreaRight" fmla="*/ 291600 w 291240"/>
              <a:gd name="textAreaTop" fmla="*/ 0 h 237600"/>
              <a:gd name="textAreaBottom" fmla="*/ 237960 h 237600"/>
            </a:gdLst>
            <a:ahLst/>
            <a:cxnLst/>
            <a:rect l="textAreaLeft" t="textAreaTop" r="textAreaRight" b="textAreaBottom"/>
            <a:pathLst>
              <a:path w="7144" h="5835">
                <a:moveTo>
                  <a:pt x="4620" y="0"/>
                </a:moveTo>
                <a:cubicBezTo>
                  <a:pt x="3727" y="0"/>
                  <a:pt x="2977" y="691"/>
                  <a:pt x="2905" y="1572"/>
                </a:cubicBezTo>
                <a:cubicBezTo>
                  <a:pt x="2727" y="1548"/>
                  <a:pt x="2358" y="1441"/>
                  <a:pt x="2262" y="1405"/>
                </a:cubicBezTo>
                <a:cubicBezTo>
                  <a:pt x="1643" y="1203"/>
                  <a:pt x="1072" y="810"/>
                  <a:pt x="631" y="322"/>
                </a:cubicBezTo>
                <a:cubicBezTo>
                  <a:pt x="596" y="298"/>
                  <a:pt x="572" y="274"/>
                  <a:pt x="524" y="262"/>
                </a:cubicBezTo>
                <a:cubicBezTo>
                  <a:pt x="517" y="261"/>
                  <a:pt x="509" y="260"/>
                  <a:pt x="501" y="260"/>
                </a:cubicBezTo>
                <a:cubicBezTo>
                  <a:pt x="436" y="260"/>
                  <a:pt x="367" y="304"/>
                  <a:pt x="346" y="357"/>
                </a:cubicBezTo>
                <a:cubicBezTo>
                  <a:pt x="238" y="572"/>
                  <a:pt x="179" y="810"/>
                  <a:pt x="179" y="1048"/>
                </a:cubicBezTo>
                <a:cubicBezTo>
                  <a:pt x="179" y="1393"/>
                  <a:pt x="286" y="1727"/>
                  <a:pt x="476" y="1977"/>
                </a:cubicBezTo>
                <a:cubicBezTo>
                  <a:pt x="466" y="1975"/>
                  <a:pt x="456" y="1974"/>
                  <a:pt x="446" y="1974"/>
                </a:cubicBezTo>
                <a:cubicBezTo>
                  <a:pt x="397" y="1974"/>
                  <a:pt x="349" y="1997"/>
                  <a:pt x="310" y="2036"/>
                </a:cubicBezTo>
                <a:cubicBezTo>
                  <a:pt x="286" y="2060"/>
                  <a:pt x="286" y="2108"/>
                  <a:pt x="274" y="2143"/>
                </a:cubicBezTo>
                <a:lnTo>
                  <a:pt x="274" y="2203"/>
                </a:lnTo>
                <a:cubicBezTo>
                  <a:pt x="274" y="2655"/>
                  <a:pt x="476" y="3072"/>
                  <a:pt x="822" y="3358"/>
                </a:cubicBezTo>
                <a:cubicBezTo>
                  <a:pt x="786" y="3370"/>
                  <a:pt x="774" y="3405"/>
                  <a:pt x="762" y="3417"/>
                </a:cubicBezTo>
                <a:cubicBezTo>
                  <a:pt x="750" y="3465"/>
                  <a:pt x="727" y="3513"/>
                  <a:pt x="750" y="3548"/>
                </a:cubicBezTo>
                <a:cubicBezTo>
                  <a:pt x="893" y="4024"/>
                  <a:pt x="1262" y="4405"/>
                  <a:pt x="1727" y="4548"/>
                </a:cubicBezTo>
                <a:cubicBezTo>
                  <a:pt x="1310" y="4798"/>
                  <a:pt x="834" y="4941"/>
                  <a:pt x="334" y="4941"/>
                </a:cubicBezTo>
                <a:lnTo>
                  <a:pt x="191" y="4941"/>
                </a:lnTo>
                <a:cubicBezTo>
                  <a:pt x="107" y="4941"/>
                  <a:pt x="36" y="5001"/>
                  <a:pt x="12" y="5084"/>
                </a:cubicBezTo>
                <a:cubicBezTo>
                  <a:pt x="0" y="5156"/>
                  <a:pt x="48" y="5239"/>
                  <a:pt x="107" y="5263"/>
                </a:cubicBezTo>
                <a:cubicBezTo>
                  <a:pt x="727" y="5632"/>
                  <a:pt x="1465" y="5834"/>
                  <a:pt x="2191" y="5834"/>
                </a:cubicBezTo>
                <a:cubicBezTo>
                  <a:pt x="3072" y="5834"/>
                  <a:pt x="3905" y="5560"/>
                  <a:pt x="4596" y="5060"/>
                </a:cubicBezTo>
                <a:cubicBezTo>
                  <a:pt x="4691" y="5001"/>
                  <a:pt x="4691" y="4858"/>
                  <a:pt x="4620" y="4786"/>
                </a:cubicBezTo>
                <a:cubicBezTo>
                  <a:pt x="4587" y="4754"/>
                  <a:pt x="4544" y="4735"/>
                  <a:pt x="4499" y="4735"/>
                </a:cubicBezTo>
                <a:cubicBezTo>
                  <a:pt x="4463" y="4735"/>
                  <a:pt x="4426" y="4748"/>
                  <a:pt x="4394" y="4775"/>
                </a:cubicBezTo>
                <a:cubicBezTo>
                  <a:pt x="3763" y="5215"/>
                  <a:pt x="3013" y="5489"/>
                  <a:pt x="2191" y="5489"/>
                </a:cubicBezTo>
                <a:cubicBezTo>
                  <a:pt x="1727" y="5489"/>
                  <a:pt x="1262" y="5394"/>
                  <a:pt x="846" y="5239"/>
                </a:cubicBezTo>
                <a:cubicBezTo>
                  <a:pt x="1369" y="5144"/>
                  <a:pt x="1846" y="4917"/>
                  <a:pt x="2262" y="4584"/>
                </a:cubicBezTo>
                <a:cubicBezTo>
                  <a:pt x="2310" y="4536"/>
                  <a:pt x="2334" y="4477"/>
                  <a:pt x="2322" y="4417"/>
                </a:cubicBezTo>
                <a:cubicBezTo>
                  <a:pt x="2310" y="4346"/>
                  <a:pt x="2239" y="4286"/>
                  <a:pt x="2155" y="4286"/>
                </a:cubicBezTo>
                <a:cubicBezTo>
                  <a:pt x="1739" y="4263"/>
                  <a:pt x="1369" y="4048"/>
                  <a:pt x="1167" y="3691"/>
                </a:cubicBezTo>
                <a:cubicBezTo>
                  <a:pt x="1250" y="3691"/>
                  <a:pt x="1358" y="3667"/>
                  <a:pt x="1441" y="3643"/>
                </a:cubicBezTo>
                <a:cubicBezTo>
                  <a:pt x="1524" y="3632"/>
                  <a:pt x="1584" y="3572"/>
                  <a:pt x="1584" y="3489"/>
                </a:cubicBezTo>
                <a:cubicBezTo>
                  <a:pt x="1596" y="3405"/>
                  <a:pt x="1536" y="3334"/>
                  <a:pt x="1441" y="3298"/>
                </a:cubicBezTo>
                <a:cubicBezTo>
                  <a:pt x="1000" y="3191"/>
                  <a:pt x="667" y="2822"/>
                  <a:pt x="596" y="2381"/>
                </a:cubicBezTo>
                <a:lnTo>
                  <a:pt x="596" y="2381"/>
                </a:lnTo>
                <a:cubicBezTo>
                  <a:pt x="727" y="2405"/>
                  <a:pt x="869" y="2417"/>
                  <a:pt x="1000" y="2417"/>
                </a:cubicBezTo>
                <a:cubicBezTo>
                  <a:pt x="1084" y="2417"/>
                  <a:pt x="1143" y="2358"/>
                  <a:pt x="1167" y="2274"/>
                </a:cubicBezTo>
                <a:cubicBezTo>
                  <a:pt x="1179" y="2203"/>
                  <a:pt x="1131" y="2143"/>
                  <a:pt x="1072" y="2108"/>
                </a:cubicBezTo>
                <a:cubicBezTo>
                  <a:pt x="703" y="1881"/>
                  <a:pt x="476" y="1488"/>
                  <a:pt x="476" y="1048"/>
                </a:cubicBezTo>
                <a:cubicBezTo>
                  <a:pt x="476" y="953"/>
                  <a:pt x="488" y="846"/>
                  <a:pt x="524" y="738"/>
                </a:cubicBezTo>
                <a:cubicBezTo>
                  <a:pt x="965" y="1191"/>
                  <a:pt x="1524" y="1524"/>
                  <a:pt x="2120" y="1727"/>
                </a:cubicBezTo>
                <a:cubicBezTo>
                  <a:pt x="2120" y="1727"/>
                  <a:pt x="2715" y="1905"/>
                  <a:pt x="2929" y="1917"/>
                </a:cubicBezTo>
                <a:lnTo>
                  <a:pt x="3024" y="1917"/>
                </a:lnTo>
                <a:cubicBezTo>
                  <a:pt x="3096" y="1917"/>
                  <a:pt x="3167" y="1869"/>
                  <a:pt x="3191" y="1798"/>
                </a:cubicBezTo>
                <a:cubicBezTo>
                  <a:pt x="3203" y="1786"/>
                  <a:pt x="3203" y="1750"/>
                  <a:pt x="3203" y="1738"/>
                </a:cubicBezTo>
                <a:lnTo>
                  <a:pt x="3203" y="1703"/>
                </a:lnTo>
                <a:cubicBezTo>
                  <a:pt x="3203" y="953"/>
                  <a:pt x="3810" y="334"/>
                  <a:pt x="4572" y="334"/>
                </a:cubicBezTo>
                <a:cubicBezTo>
                  <a:pt x="4941" y="334"/>
                  <a:pt x="5287" y="488"/>
                  <a:pt x="5549" y="750"/>
                </a:cubicBezTo>
                <a:cubicBezTo>
                  <a:pt x="5585" y="787"/>
                  <a:pt x="5621" y="802"/>
                  <a:pt x="5663" y="802"/>
                </a:cubicBezTo>
                <a:cubicBezTo>
                  <a:pt x="5676" y="802"/>
                  <a:pt x="5689" y="801"/>
                  <a:pt x="5703" y="798"/>
                </a:cubicBezTo>
                <a:cubicBezTo>
                  <a:pt x="5882" y="762"/>
                  <a:pt x="6049" y="738"/>
                  <a:pt x="6203" y="679"/>
                </a:cubicBezTo>
                <a:lnTo>
                  <a:pt x="6203" y="679"/>
                </a:lnTo>
                <a:cubicBezTo>
                  <a:pt x="6120" y="762"/>
                  <a:pt x="6013" y="857"/>
                  <a:pt x="5894" y="917"/>
                </a:cubicBezTo>
                <a:cubicBezTo>
                  <a:pt x="5822" y="965"/>
                  <a:pt x="5787" y="1048"/>
                  <a:pt x="5822" y="1143"/>
                </a:cubicBezTo>
                <a:cubicBezTo>
                  <a:pt x="5846" y="1203"/>
                  <a:pt x="5930" y="1250"/>
                  <a:pt x="6001" y="1250"/>
                </a:cubicBezTo>
                <a:cubicBezTo>
                  <a:pt x="6144" y="1227"/>
                  <a:pt x="6287" y="1215"/>
                  <a:pt x="6418" y="1167"/>
                </a:cubicBezTo>
                <a:lnTo>
                  <a:pt x="6418" y="1167"/>
                </a:lnTo>
                <a:cubicBezTo>
                  <a:pt x="6299" y="1286"/>
                  <a:pt x="6168" y="1405"/>
                  <a:pt x="6013" y="1512"/>
                </a:cubicBezTo>
                <a:cubicBezTo>
                  <a:pt x="5965" y="1548"/>
                  <a:pt x="5941" y="1608"/>
                  <a:pt x="5941" y="1655"/>
                </a:cubicBezTo>
                <a:lnTo>
                  <a:pt x="5941" y="1679"/>
                </a:lnTo>
                <a:lnTo>
                  <a:pt x="5941" y="1703"/>
                </a:lnTo>
                <a:lnTo>
                  <a:pt x="5941" y="1727"/>
                </a:lnTo>
                <a:cubicBezTo>
                  <a:pt x="5941" y="2691"/>
                  <a:pt x="5572" y="3572"/>
                  <a:pt x="4977" y="4227"/>
                </a:cubicBezTo>
                <a:cubicBezTo>
                  <a:pt x="4918" y="4298"/>
                  <a:pt x="4918" y="4405"/>
                  <a:pt x="4977" y="4465"/>
                </a:cubicBezTo>
                <a:cubicBezTo>
                  <a:pt x="5011" y="4499"/>
                  <a:pt x="5053" y="4514"/>
                  <a:pt x="5096" y="4514"/>
                </a:cubicBezTo>
                <a:cubicBezTo>
                  <a:pt x="5143" y="4514"/>
                  <a:pt x="5190" y="4496"/>
                  <a:pt x="5227" y="4465"/>
                </a:cubicBezTo>
                <a:cubicBezTo>
                  <a:pt x="5894" y="3715"/>
                  <a:pt x="6263" y="2762"/>
                  <a:pt x="6287" y="1750"/>
                </a:cubicBezTo>
                <a:cubicBezTo>
                  <a:pt x="6596" y="1524"/>
                  <a:pt x="6846" y="1250"/>
                  <a:pt x="7061" y="917"/>
                </a:cubicBezTo>
                <a:cubicBezTo>
                  <a:pt x="7144" y="857"/>
                  <a:pt x="7132" y="750"/>
                  <a:pt x="7061" y="715"/>
                </a:cubicBezTo>
                <a:cubicBezTo>
                  <a:pt x="7029" y="683"/>
                  <a:pt x="6987" y="667"/>
                  <a:pt x="6937" y="667"/>
                </a:cubicBezTo>
                <a:cubicBezTo>
                  <a:pt x="6912" y="667"/>
                  <a:pt x="6886" y="671"/>
                  <a:pt x="6858" y="679"/>
                </a:cubicBezTo>
                <a:cubicBezTo>
                  <a:pt x="6775" y="726"/>
                  <a:pt x="6680" y="750"/>
                  <a:pt x="6596" y="786"/>
                </a:cubicBezTo>
                <a:cubicBezTo>
                  <a:pt x="6680" y="667"/>
                  <a:pt x="6763" y="512"/>
                  <a:pt x="6823" y="369"/>
                </a:cubicBezTo>
                <a:cubicBezTo>
                  <a:pt x="6834" y="310"/>
                  <a:pt x="6834" y="238"/>
                  <a:pt x="6787" y="191"/>
                </a:cubicBezTo>
                <a:cubicBezTo>
                  <a:pt x="6750" y="153"/>
                  <a:pt x="6703" y="135"/>
                  <a:pt x="6659" y="135"/>
                </a:cubicBezTo>
                <a:cubicBezTo>
                  <a:pt x="6632" y="135"/>
                  <a:pt x="6607" y="142"/>
                  <a:pt x="6584" y="155"/>
                </a:cubicBezTo>
                <a:cubicBezTo>
                  <a:pt x="6322" y="310"/>
                  <a:pt x="6061" y="393"/>
                  <a:pt x="5775" y="441"/>
                </a:cubicBezTo>
                <a:cubicBezTo>
                  <a:pt x="5465" y="143"/>
                  <a:pt x="5048" y="0"/>
                  <a:pt x="4620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7" name="Google Shape;314;p 1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301;p 2"/>
          <p:cNvSpPr txBox="1"/>
          <p:nvPr/>
        </p:nvSpPr>
        <p:spPr>
          <a:xfrm>
            <a:off x="713520" y="540000"/>
            <a:ext cx="2836440" cy="785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5000" strike="noStrike" u="none">
                <a:solidFill>
                  <a:schemeClr val="dk1"/>
                </a:solidFill>
                <a:effectLst/>
                <a:uFillTx/>
                <a:latin typeface="Syne SemiBold"/>
                <a:ea typeface="Syne SemiBold"/>
              </a:rPr>
              <a:t>Demo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9" name="Google Shape;314;p 2"/>
          <p:cNvCxnSpPr/>
          <p:nvPr/>
        </p:nvCxnSpPr>
        <p:spPr>
          <a:xfrm>
            <a:off x="1430640" y="4799880"/>
            <a:ext cx="824580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ch Startup by Slidesgo">
  <a:themeElements>
    <a:clrScheme name="Simple Light">
      <a:dk1>
        <a:srgbClr val="ffffff"/>
      </a:dk1>
      <a:lt1>
        <a:srgbClr val="091060"/>
      </a:lt1>
      <a:dk2>
        <a:srgbClr val="7247b8"/>
      </a:dk2>
      <a:lt2>
        <a:srgbClr val="0deee7"/>
      </a:lt2>
      <a:accent1>
        <a:srgbClr val="01507c"/>
      </a:accent1>
      <a:accent2>
        <a:srgbClr val="15d2c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2025-12-19T01:55:59Z</dcterms:modified>
  <cp:revision>9</cp:revision>
  <dc:subject/>
  <dc:title/>
</cp:coreProperties>
</file>